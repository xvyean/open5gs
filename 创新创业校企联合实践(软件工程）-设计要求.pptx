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9"/>
  </p:notesMasterIdLst>
  <p:handoutMasterIdLst>
    <p:handoutMasterId r:id="rId30"/>
  </p:handoutMasterIdLst>
  <p:sldIdLst>
    <p:sldId id="1214" r:id="rId2"/>
    <p:sldId id="288" r:id="rId3"/>
    <p:sldId id="1253" r:id="rId4"/>
    <p:sldId id="1252" r:id="rId5"/>
    <p:sldId id="1149" r:id="rId6"/>
    <p:sldId id="1240" r:id="rId7"/>
    <p:sldId id="1227" r:id="rId8"/>
    <p:sldId id="1226" r:id="rId9"/>
    <p:sldId id="1228" r:id="rId10"/>
    <p:sldId id="1254" r:id="rId11"/>
    <p:sldId id="1229" r:id="rId12"/>
    <p:sldId id="1242" r:id="rId13"/>
    <p:sldId id="1243" r:id="rId14"/>
    <p:sldId id="1244" r:id="rId15"/>
    <p:sldId id="1230" r:id="rId16"/>
    <p:sldId id="1245" r:id="rId17"/>
    <p:sldId id="1246" r:id="rId18"/>
    <p:sldId id="1231" r:id="rId19"/>
    <p:sldId id="1233" r:id="rId20"/>
    <p:sldId id="1234" r:id="rId21"/>
    <p:sldId id="1232" r:id="rId22"/>
    <p:sldId id="1239" r:id="rId23"/>
    <p:sldId id="1236" r:id="rId24"/>
    <p:sldId id="1237" r:id="rId25"/>
    <p:sldId id="1238" r:id="rId26"/>
    <p:sldId id="1247" r:id="rId27"/>
    <p:sldId id="1147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5110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pos="9536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8" userDrawn="1">
          <p15:clr>
            <a:srgbClr val="A4A3A4"/>
          </p15:clr>
        </p15:guide>
        <p15:guide id="11" pos="7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A30C"/>
    <a:srgbClr val="92D050"/>
    <a:srgbClr val="F9F9F9"/>
    <a:srgbClr val="FFFFFF"/>
    <a:srgbClr val="000000"/>
    <a:srgbClr val="3D3D3D"/>
    <a:srgbClr val="39594E"/>
    <a:srgbClr val="8EC320"/>
    <a:srgbClr val="006835"/>
    <a:srgbClr val="EF4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3885" autoAdjust="0"/>
  </p:normalViewPr>
  <p:slideViewPr>
    <p:cSldViewPr snapToGrid="0">
      <p:cViewPr varScale="1">
        <p:scale>
          <a:sx n="103" d="100"/>
          <a:sy n="103" d="100"/>
        </p:scale>
        <p:origin x="1014" y="114"/>
      </p:cViewPr>
      <p:guideLst>
        <p:guide orient="horz" pos="2886"/>
        <p:guide pos="5110"/>
        <p:guide pos="960"/>
        <p:guide pos="9536"/>
        <p:guide orient="horz" pos="2614"/>
        <p:guide pos="3840"/>
        <p:guide pos="528"/>
        <p:guide pos="71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4" d="100"/>
        <a:sy n="64" d="100"/>
      </p:scale>
      <p:origin x="0" y="27102"/>
    </p:cViewPr>
  </p:sorterViewPr>
  <p:notesViewPr>
    <p:cSldViewPr snapToGrid="0" showGuides="1">
      <p:cViewPr varScale="1">
        <p:scale>
          <a:sx n="57" d="100"/>
          <a:sy n="57" d="100"/>
        </p:scale>
        <p:origin x="2808" y="42"/>
      </p:cViewPr>
      <p:guideLst/>
    </p:cSldViewPr>
  </p:notesViewPr>
  <p:gridSpacing cx="457200" cy="457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2253F-1DC1-44AB-85F9-14DB9D873A39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8A4E4-7001-4196-8720-A0FCB0AEB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813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4D076-05C0-4F10-BAEB-F2DA581BE89B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7B7F8-81FA-46DC-8926-8D6B124E5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55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2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52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33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803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134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6708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40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1518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963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48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3055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084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7685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879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4118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805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4800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3017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8189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7876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5882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9317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2169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719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7B7F8-81FA-46DC-8926-8D6B124E54D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1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5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818D4-3418-4ED1-9BFC-530E14D9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020" y="282288"/>
            <a:ext cx="10329072" cy="537552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5" name="直接连接符​ 11">
            <a:extLst>
              <a:ext uri="{FF2B5EF4-FFF2-40B4-BE49-F238E27FC236}">
                <a16:creationId xmlns:a16="http://schemas.microsoft.com/office/drawing/2014/main" id="{B57C4BDA-FB77-4CE8-AF59-B05273598688}"/>
              </a:ext>
            </a:extLst>
          </p:cNvPr>
          <p:cNvCxnSpPr>
            <a:cxnSpLocks/>
          </p:cNvCxnSpPr>
          <p:nvPr userDrawn="1"/>
        </p:nvCxnSpPr>
        <p:spPr>
          <a:xfrm>
            <a:off x="314693" y="843924"/>
            <a:ext cx="11549061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EAB486D-F8EE-4B1E-9D4F-B04B6465C64E}"/>
              </a:ext>
            </a:extLst>
          </p:cNvPr>
          <p:cNvSpPr txBox="1"/>
          <p:nvPr userDrawn="1"/>
        </p:nvSpPr>
        <p:spPr>
          <a:xfrm>
            <a:off x="11255984" y="467599"/>
            <a:ext cx="621323" cy="36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E979A47-1483-4B2A-A384-086102EF5D5A}" type="slidenum">
              <a:rPr lang="zh-CN" altLang="en-US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ndroid_154871">
            <a:extLst>
              <a:ext uri="{FF2B5EF4-FFF2-40B4-BE49-F238E27FC236}">
                <a16:creationId xmlns:a16="http://schemas.microsoft.com/office/drawing/2014/main" id="{5CF0030A-7F90-4C2A-8847-40C3636F78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62610" y="162756"/>
            <a:ext cx="509889" cy="609685"/>
          </a:xfrm>
          <a:custGeom>
            <a:avLst/>
            <a:gdLst>
              <a:gd name="connsiteX0" fmla="*/ 468696 w 506660"/>
              <a:gd name="connsiteY0" fmla="*/ 200990 h 605824"/>
              <a:gd name="connsiteX1" fmla="*/ 506660 w 506660"/>
              <a:gd name="connsiteY1" fmla="*/ 238894 h 605824"/>
              <a:gd name="connsiteX2" fmla="*/ 506660 w 506660"/>
              <a:gd name="connsiteY2" fmla="*/ 415982 h 605824"/>
              <a:gd name="connsiteX3" fmla="*/ 468696 w 506660"/>
              <a:gd name="connsiteY3" fmla="*/ 454037 h 605824"/>
              <a:gd name="connsiteX4" fmla="*/ 430732 w 506660"/>
              <a:gd name="connsiteY4" fmla="*/ 415982 h 605824"/>
              <a:gd name="connsiteX5" fmla="*/ 430732 w 506660"/>
              <a:gd name="connsiteY5" fmla="*/ 238894 h 605824"/>
              <a:gd name="connsiteX6" fmla="*/ 468696 w 506660"/>
              <a:gd name="connsiteY6" fmla="*/ 200990 h 605824"/>
              <a:gd name="connsiteX7" fmla="*/ 101403 w 506660"/>
              <a:gd name="connsiteY7" fmla="*/ 200990 h 605824"/>
              <a:gd name="connsiteX8" fmla="*/ 405399 w 506660"/>
              <a:gd name="connsiteY8" fmla="*/ 200990 h 605824"/>
              <a:gd name="connsiteX9" fmla="*/ 405399 w 506660"/>
              <a:gd name="connsiteY9" fmla="*/ 454049 h 605824"/>
              <a:gd name="connsiteX10" fmla="*/ 380041 w 506660"/>
              <a:gd name="connsiteY10" fmla="*/ 479370 h 605824"/>
              <a:gd name="connsiteX11" fmla="*/ 354682 w 506660"/>
              <a:gd name="connsiteY11" fmla="*/ 479370 h 605824"/>
              <a:gd name="connsiteX12" fmla="*/ 354682 w 506660"/>
              <a:gd name="connsiteY12" fmla="*/ 567918 h 605824"/>
              <a:gd name="connsiteX13" fmla="*/ 316721 w 506660"/>
              <a:gd name="connsiteY13" fmla="*/ 605824 h 605824"/>
              <a:gd name="connsiteX14" fmla="*/ 278759 w 506660"/>
              <a:gd name="connsiteY14" fmla="*/ 567918 h 605824"/>
              <a:gd name="connsiteX15" fmla="*/ 278759 w 506660"/>
              <a:gd name="connsiteY15" fmla="*/ 479370 h 605824"/>
              <a:gd name="connsiteX16" fmla="*/ 228043 w 506660"/>
              <a:gd name="connsiteY16" fmla="*/ 479370 h 605824"/>
              <a:gd name="connsiteX17" fmla="*/ 228043 w 506660"/>
              <a:gd name="connsiteY17" fmla="*/ 567918 h 605824"/>
              <a:gd name="connsiteX18" fmla="*/ 190081 w 506660"/>
              <a:gd name="connsiteY18" fmla="*/ 605824 h 605824"/>
              <a:gd name="connsiteX19" fmla="*/ 152120 w 506660"/>
              <a:gd name="connsiteY19" fmla="*/ 567918 h 605824"/>
              <a:gd name="connsiteX20" fmla="*/ 152120 w 506660"/>
              <a:gd name="connsiteY20" fmla="*/ 479370 h 605824"/>
              <a:gd name="connsiteX21" fmla="*/ 126761 w 506660"/>
              <a:gd name="connsiteY21" fmla="*/ 479370 h 605824"/>
              <a:gd name="connsiteX22" fmla="*/ 101403 w 506660"/>
              <a:gd name="connsiteY22" fmla="*/ 454049 h 605824"/>
              <a:gd name="connsiteX23" fmla="*/ 38111 w 506660"/>
              <a:gd name="connsiteY23" fmla="*/ 200990 h 605824"/>
              <a:gd name="connsiteX24" fmla="*/ 76070 w 506660"/>
              <a:gd name="connsiteY24" fmla="*/ 238894 h 605824"/>
              <a:gd name="connsiteX25" fmla="*/ 76070 w 506660"/>
              <a:gd name="connsiteY25" fmla="*/ 415982 h 605824"/>
              <a:gd name="connsiteX26" fmla="*/ 38111 w 506660"/>
              <a:gd name="connsiteY26" fmla="*/ 454037 h 605824"/>
              <a:gd name="connsiteX27" fmla="*/ 0 w 506660"/>
              <a:gd name="connsiteY27" fmla="*/ 415982 h 605824"/>
              <a:gd name="connsiteX28" fmla="*/ 0 w 506660"/>
              <a:gd name="connsiteY28" fmla="*/ 238894 h 605824"/>
              <a:gd name="connsiteX29" fmla="*/ 38111 w 506660"/>
              <a:gd name="connsiteY29" fmla="*/ 200990 h 605824"/>
              <a:gd name="connsiteX30" fmla="*/ 316721 w 506660"/>
              <a:gd name="connsiteY30" fmla="*/ 93495 h 605824"/>
              <a:gd name="connsiteX31" fmla="*/ 297740 w 506660"/>
              <a:gd name="connsiteY31" fmla="*/ 112444 h 605824"/>
              <a:gd name="connsiteX32" fmla="*/ 316721 w 506660"/>
              <a:gd name="connsiteY32" fmla="*/ 131544 h 605824"/>
              <a:gd name="connsiteX33" fmla="*/ 335702 w 506660"/>
              <a:gd name="connsiteY33" fmla="*/ 112444 h 605824"/>
              <a:gd name="connsiteX34" fmla="*/ 316721 w 506660"/>
              <a:gd name="connsiteY34" fmla="*/ 93495 h 605824"/>
              <a:gd name="connsiteX35" fmla="*/ 189929 w 506660"/>
              <a:gd name="connsiteY35" fmla="*/ 93495 h 605824"/>
              <a:gd name="connsiteX36" fmla="*/ 170949 w 506660"/>
              <a:gd name="connsiteY36" fmla="*/ 112444 h 605824"/>
              <a:gd name="connsiteX37" fmla="*/ 189929 w 506660"/>
              <a:gd name="connsiteY37" fmla="*/ 131544 h 605824"/>
              <a:gd name="connsiteX38" fmla="*/ 209062 w 506660"/>
              <a:gd name="connsiteY38" fmla="*/ 112444 h 605824"/>
              <a:gd name="connsiteX39" fmla="*/ 189929 w 506660"/>
              <a:gd name="connsiteY39" fmla="*/ 93495 h 605824"/>
              <a:gd name="connsiteX40" fmla="*/ 140598 w 506660"/>
              <a:gd name="connsiteY40" fmla="*/ 1 h 605824"/>
              <a:gd name="connsiteX41" fmla="*/ 149538 w 506660"/>
              <a:gd name="connsiteY41" fmla="*/ 3753 h 605824"/>
              <a:gd name="connsiteX42" fmla="*/ 183552 w 506660"/>
              <a:gd name="connsiteY42" fmla="*/ 37557 h 605824"/>
              <a:gd name="connsiteX43" fmla="*/ 185070 w 506660"/>
              <a:gd name="connsiteY43" fmla="*/ 39225 h 605824"/>
              <a:gd name="connsiteX44" fmla="*/ 252945 w 506660"/>
              <a:gd name="connsiteY44" fmla="*/ 24066 h 605824"/>
              <a:gd name="connsiteX45" fmla="*/ 253401 w 506660"/>
              <a:gd name="connsiteY45" fmla="*/ 24066 h 605824"/>
              <a:gd name="connsiteX46" fmla="*/ 253705 w 506660"/>
              <a:gd name="connsiteY46" fmla="*/ 24066 h 605824"/>
              <a:gd name="connsiteX47" fmla="*/ 321732 w 506660"/>
              <a:gd name="connsiteY47" fmla="*/ 39225 h 605824"/>
              <a:gd name="connsiteX48" fmla="*/ 323250 w 506660"/>
              <a:gd name="connsiteY48" fmla="*/ 37557 h 605824"/>
              <a:gd name="connsiteX49" fmla="*/ 357264 w 506660"/>
              <a:gd name="connsiteY49" fmla="*/ 3753 h 605824"/>
              <a:gd name="connsiteX50" fmla="*/ 375030 w 506660"/>
              <a:gd name="connsiteY50" fmla="*/ 3753 h 605824"/>
              <a:gd name="connsiteX51" fmla="*/ 375030 w 506660"/>
              <a:gd name="connsiteY51" fmla="*/ 21489 h 605824"/>
              <a:gd name="connsiteX52" fmla="*/ 342079 w 506660"/>
              <a:gd name="connsiteY52" fmla="*/ 54233 h 605824"/>
              <a:gd name="connsiteX53" fmla="*/ 370626 w 506660"/>
              <a:gd name="connsiteY53" fmla="*/ 79851 h 605824"/>
              <a:gd name="connsiteX54" fmla="*/ 405247 w 506660"/>
              <a:gd name="connsiteY54" fmla="*/ 167774 h 605824"/>
              <a:gd name="connsiteX55" fmla="*/ 405247 w 506660"/>
              <a:gd name="connsiteY55" fmla="*/ 168836 h 605824"/>
              <a:gd name="connsiteX56" fmla="*/ 405399 w 506660"/>
              <a:gd name="connsiteY56" fmla="*/ 175657 h 605824"/>
              <a:gd name="connsiteX57" fmla="*/ 101403 w 506660"/>
              <a:gd name="connsiteY57" fmla="*/ 175657 h 605824"/>
              <a:gd name="connsiteX58" fmla="*/ 101555 w 506660"/>
              <a:gd name="connsiteY58" fmla="*/ 168836 h 605824"/>
              <a:gd name="connsiteX59" fmla="*/ 101555 w 506660"/>
              <a:gd name="connsiteY59" fmla="*/ 167774 h 605824"/>
              <a:gd name="connsiteX60" fmla="*/ 136176 w 506660"/>
              <a:gd name="connsiteY60" fmla="*/ 79851 h 605824"/>
              <a:gd name="connsiteX61" fmla="*/ 164723 w 506660"/>
              <a:gd name="connsiteY61" fmla="*/ 54233 h 605824"/>
              <a:gd name="connsiteX62" fmla="*/ 131772 w 506660"/>
              <a:gd name="connsiteY62" fmla="*/ 21489 h 605824"/>
              <a:gd name="connsiteX63" fmla="*/ 131772 w 506660"/>
              <a:gd name="connsiteY63" fmla="*/ 3753 h 605824"/>
              <a:gd name="connsiteX64" fmla="*/ 140598 w 506660"/>
              <a:gd name="connsiteY64" fmla="*/ 1 h 6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06660" h="605824">
                <a:moveTo>
                  <a:pt x="468696" y="200990"/>
                </a:moveTo>
                <a:cubicBezTo>
                  <a:pt x="489045" y="200990"/>
                  <a:pt x="506660" y="218729"/>
                  <a:pt x="506660" y="238894"/>
                </a:cubicBezTo>
                <a:lnTo>
                  <a:pt x="506660" y="415982"/>
                </a:lnTo>
                <a:cubicBezTo>
                  <a:pt x="506660" y="436298"/>
                  <a:pt x="489045" y="454037"/>
                  <a:pt x="468696" y="454037"/>
                </a:cubicBezTo>
                <a:cubicBezTo>
                  <a:pt x="448499" y="454037"/>
                  <a:pt x="430732" y="436298"/>
                  <a:pt x="430732" y="415982"/>
                </a:cubicBezTo>
                <a:lnTo>
                  <a:pt x="430732" y="238894"/>
                </a:lnTo>
                <a:cubicBezTo>
                  <a:pt x="430732" y="218729"/>
                  <a:pt x="448499" y="200990"/>
                  <a:pt x="468696" y="200990"/>
                </a:cubicBezTo>
                <a:close/>
                <a:moveTo>
                  <a:pt x="101403" y="200990"/>
                </a:moveTo>
                <a:lnTo>
                  <a:pt x="405399" y="200990"/>
                </a:lnTo>
                <a:lnTo>
                  <a:pt x="405399" y="454049"/>
                </a:lnTo>
                <a:cubicBezTo>
                  <a:pt x="405399" y="469212"/>
                  <a:pt x="395225" y="479370"/>
                  <a:pt x="380041" y="479370"/>
                </a:cubicBezTo>
                <a:lnTo>
                  <a:pt x="354682" y="479370"/>
                </a:lnTo>
                <a:lnTo>
                  <a:pt x="354682" y="567918"/>
                </a:lnTo>
                <a:cubicBezTo>
                  <a:pt x="354682" y="588084"/>
                  <a:pt x="337068" y="605824"/>
                  <a:pt x="316721" y="605824"/>
                </a:cubicBezTo>
                <a:cubicBezTo>
                  <a:pt x="296373" y="605824"/>
                  <a:pt x="278759" y="588084"/>
                  <a:pt x="278759" y="567918"/>
                </a:cubicBezTo>
                <a:lnTo>
                  <a:pt x="278759" y="479370"/>
                </a:lnTo>
                <a:lnTo>
                  <a:pt x="228043" y="479370"/>
                </a:lnTo>
                <a:lnTo>
                  <a:pt x="228043" y="567918"/>
                </a:lnTo>
                <a:cubicBezTo>
                  <a:pt x="228043" y="588084"/>
                  <a:pt x="210277" y="605824"/>
                  <a:pt x="190081" y="605824"/>
                </a:cubicBezTo>
                <a:cubicBezTo>
                  <a:pt x="169734" y="605824"/>
                  <a:pt x="152120" y="588084"/>
                  <a:pt x="152120" y="567918"/>
                </a:cubicBezTo>
                <a:lnTo>
                  <a:pt x="152120" y="479370"/>
                </a:lnTo>
                <a:lnTo>
                  <a:pt x="126761" y="479370"/>
                </a:lnTo>
                <a:cubicBezTo>
                  <a:pt x="111425" y="479370"/>
                  <a:pt x="101403" y="469212"/>
                  <a:pt x="101403" y="454049"/>
                </a:cubicBezTo>
                <a:close/>
                <a:moveTo>
                  <a:pt x="38111" y="200990"/>
                </a:moveTo>
                <a:cubicBezTo>
                  <a:pt x="58305" y="200990"/>
                  <a:pt x="76070" y="218729"/>
                  <a:pt x="76070" y="238894"/>
                </a:cubicBezTo>
                <a:lnTo>
                  <a:pt x="76070" y="415982"/>
                </a:lnTo>
                <a:cubicBezTo>
                  <a:pt x="76070" y="436298"/>
                  <a:pt x="58305" y="454037"/>
                  <a:pt x="38111" y="454037"/>
                </a:cubicBezTo>
                <a:cubicBezTo>
                  <a:pt x="17765" y="454037"/>
                  <a:pt x="0" y="436298"/>
                  <a:pt x="0" y="415982"/>
                </a:cubicBezTo>
                <a:lnTo>
                  <a:pt x="0" y="238894"/>
                </a:lnTo>
                <a:cubicBezTo>
                  <a:pt x="0" y="218729"/>
                  <a:pt x="17765" y="200990"/>
                  <a:pt x="38111" y="200990"/>
                </a:cubicBezTo>
                <a:close/>
                <a:moveTo>
                  <a:pt x="316721" y="93495"/>
                </a:moveTo>
                <a:cubicBezTo>
                  <a:pt x="306243" y="93495"/>
                  <a:pt x="297740" y="101984"/>
                  <a:pt x="297740" y="112444"/>
                </a:cubicBezTo>
                <a:cubicBezTo>
                  <a:pt x="297740" y="122903"/>
                  <a:pt x="306243" y="131544"/>
                  <a:pt x="316721" y="131544"/>
                </a:cubicBezTo>
                <a:cubicBezTo>
                  <a:pt x="327198" y="131544"/>
                  <a:pt x="335702" y="122903"/>
                  <a:pt x="335702" y="112444"/>
                </a:cubicBezTo>
                <a:cubicBezTo>
                  <a:pt x="335702" y="101984"/>
                  <a:pt x="327198" y="93495"/>
                  <a:pt x="316721" y="93495"/>
                </a:cubicBezTo>
                <a:close/>
                <a:moveTo>
                  <a:pt x="189929" y="93495"/>
                </a:moveTo>
                <a:cubicBezTo>
                  <a:pt x="179452" y="93495"/>
                  <a:pt x="170949" y="101984"/>
                  <a:pt x="170949" y="112444"/>
                </a:cubicBezTo>
                <a:cubicBezTo>
                  <a:pt x="170949" y="122903"/>
                  <a:pt x="179452" y="131544"/>
                  <a:pt x="189929" y="131544"/>
                </a:cubicBezTo>
                <a:cubicBezTo>
                  <a:pt x="200559" y="131544"/>
                  <a:pt x="209062" y="122903"/>
                  <a:pt x="209062" y="112444"/>
                </a:cubicBezTo>
                <a:cubicBezTo>
                  <a:pt x="209062" y="101984"/>
                  <a:pt x="200559" y="93495"/>
                  <a:pt x="189929" y="93495"/>
                </a:cubicBezTo>
                <a:close/>
                <a:moveTo>
                  <a:pt x="140598" y="1"/>
                </a:moveTo>
                <a:cubicBezTo>
                  <a:pt x="143768" y="1"/>
                  <a:pt x="146957" y="1251"/>
                  <a:pt x="149538" y="3753"/>
                </a:cubicBezTo>
                <a:lnTo>
                  <a:pt x="183552" y="37557"/>
                </a:lnTo>
                <a:lnTo>
                  <a:pt x="185070" y="39225"/>
                </a:lnTo>
                <a:cubicBezTo>
                  <a:pt x="205266" y="29068"/>
                  <a:pt x="227891" y="24066"/>
                  <a:pt x="252945" y="24066"/>
                </a:cubicBezTo>
                <a:cubicBezTo>
                  <a:pt x="253097" y="24066"/>
                  <a:pt x="253249" y="24066"/>
                  <a:pt x="253401" y="24066"/>
                </a:cubicBezTo>
                <a:cubicBezTo>
                  <a:pt x="253553" y="24066"/>
                  <a:pt x="253553" y="24066"/>
                  <a:pt x="253705" y="24066"/>
                </a:cubicBezTo>
                <a:cubicBezTo>
                  <a:pt x="278911" y="24066"/>
                  <a:pt x="301536" y="29068"/>
                  <a:pt x="321732" y="39225"/>
                </a:cubicBezTo>
                <a:lnTo>
                  <a:pt x="323250" y="37557"/>
                </a:lnTo>
                <a:lnTo>
                  <a:pt x="357264" y="3753"/>
                </a:lnTo>
                <a:cubicBezTo>
                  <a:pt x="362427" y="-1250"/>
                  <a:pt x="369867" y="-1250"/>
                  <a:pt x="375030" y="3753"/>
                </a:cubicBezTo>
                <a:cubicBezTo>
                  <a:pt x="380041" y="8907"/>
                  <a:pt x="380041" y="16335"/>
                  <a:pt x="375030" y="21489"/>
                </a:cubicBezTo>
                <a:lnTo>
                  <a:pt x="342079" y="54233"/>
                </a:lnTo>
                <a:cubicBezTo>
                  <a:pt x="352708" y="61357"/>
                  <a:pt x="362275" y="69998"/>
                  <a:pt x="370626" y="79851"/>
                </a:cubicBezTo>
                <a:cubicBezTo>
                  <a:pt x="390670" y="103500"/>
                  <a:pt x="403425" y="134424"/>
                  <a:pt x="405247" y="167774"/>
                </a:cubicBezTo>
                <a:cubicBezTo>
                  <a:pt x="405247" y="168078"/>
                  <a:pt x="405247" y="168532"/>
                  <a:pt x="405247" y="168836"/>
                </a:cubicBezTo>
                <a:cubicBezTo>
                  <a:pt x="405399" y="171109"/>
                  <a:pt x="405399" y="173383"/>
                  <a:pt x="405399" y="175657"/>
                </a:cubicBezTo>
                <a:lnTo>
                  <a:pt x="101403" y="175657"/>
                </a:lnTo>
                <a:cubicBezTo>
                  <a:pt x="101403" y="173383"/>
                  <a:pt x="101403" y="171109"/>
                  <a:pt x="101555" y="168836"/>
                </a:cubicBezTo>
                <a:cubicBezTo>
                  <a:pt x="101555" y="168532"/>
                  <a:pt x="101555" y="168078"/>
                  <a:pt x="101555" y="167774"/>
                </a:cubicBezTo>
                <a:cubicBezTo>
                  <a:pt x="103377" y="134424"/>
                  <a:pt x="116132" y="103500"/>
                  <a:pt x="136176" y="79851"/>
                </a:cubicBezTo>
                <a:cubicBezTo>
                  <a:pt x="144527" y="69998"/>
                  <a:pt x="154094" y="61357"/>
                  <a:pt x="164723" y="54233"/>
                </a:cubicBezTo>
                <a:lnTo>
                  <a:pt x="131772" y="21489"/>
                </a:lnTo>
                <a:cubicBezTo>
                  <a:pt x="126761" y="16335"/>
                  <a:pt x="126761" y="8907"/>
                  <a:pt x="131772" y="3753"/>
                </a:cubicBezTo>
                <a:cubicBezTo>
                  <a:pt x="134278" y="1251"/>
                  <a:pt x="137428" y="1"/>
                  <a:pt x="1405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977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6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C3822-60C5-4C75-B6D4-4F0FF3B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ED26C-B857-42E2-BC2D-06338BE027CA}" type="datetimeFigureOut">
              <a:rPr lang="zh-CN" altLang="en-US"/>
              <a:pPr>
                <a:defRPr/>
              </a:pPr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5E8D9-B934-46B7-8692-05114D16D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07398-3633-462F-9FB2-43761362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BB96D-2CC1-49AB-8A1A-8EC4A0D83C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FE087C-3260-4FA9-938D-B0A0ABBF11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8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62" r:id="rId2"/>
    <p:sldLayoutId id="2147483691" r:id="rId3"/>
    <p:sldLayoutId id="2147483692" r:id="rId4"/>
  </p:sldLayoutIdLst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2          _2"/>
          <p:cNvSpPr txBox="1"/>
          <p:nvPr/>
        </p:nvSpPr>
        <p:spPr>
          <a:xfrm>
            <a:off x="1144565" y="4695472"/>
            <a:ext cx="1534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目录</a:t>
            </a:r>
            <a:endParaRPr lang="zh-CN" altLang="en-US" sz="3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3A591D6-C08F-4974-B2AA-8FDF53019FBC}"/>
              </a:ext>
            </a:extLst>
          </p:cNvPr>
          <p:cNvSpPr txBox="1">
            <a:spLocks/>
          </p:cNvSpPr>
          <p:nvPr/>
        </p:nvSpPr>
        <p:spPr>
          <a:xfrm>
            <a:off x="1295400" y="1122365"/>
            <a:ext cx="9601200" cy="16875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/>
              <a:t>创新创业校企联合实践（软件工程）</a:t>
            </a:r>
            <a:endParaRPr lang="en-US" altLang="zh-CN" b="1" dirty="0"/>
          </a:p>
          <a:p>
            <a:pPr algn="ctr"/>
            <a:r>
              <a:rPr lang="zh-CN" altLang="en-US" b="1" dirty="0"/>
              <a:t>（分组</a:t>
            </a:r>
            <a:r>
              <a:rPr lang="en-US" altLang="zh-CN" b="1" dirty="0"/>
              <a:t>03 </a:t>
            </a:r>
            <a:r>
              <a:rPr lang="zh-CN" altLang="en-US" b="1" dirty="0"/>
              <a:t>）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4FF27AD-3DE5-42FA-8A56-5EC485F436A0}"/>
              </a:ext>
            </a:extLst>
          </p:cNvPr>
          <p:cNvSpPr txBox="1">
            <a:spLocks/>
          </p:cNvSpPr>
          <p:nvPr/>
        </p:nvSpPr>
        <p:spPr>
          <a:xfrm>
            <a:off x="2924175" y="3181349"/>
            <a:ext cx="6343650" cy="4032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endParaRPr lang="en-US" altLang="zh-CN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zh-CN" altLang="en-US" dirty="0"/>
              <a:t>刘传昌</a:t>
            </a:r>
            <a:endParaRPr lang="en-US" altLang="zh-CN" dirty="0"/>
          </a:p>
          <a:p>
            <a:pPr marL="0" indent="0" algn="ctr">
              <a:lnSpc>
                <a:spcPct val="110000"/>
              </a:lnSpc>
              <a:buNone/>
            </a:pPr>
            <a:endParaRPr lang="en-US" altLang="zh-CN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zh-CN" altLang="en-US" dirty="0"/>
              <a:t>计算机学院（国家示范性软件学院）</a:t>
            </a:r>
            <a:endParaRPr lang="en-US" altLang="zh-CN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zh-CN" altLang="en-US" dirty="0"/>
              <a:t>网络服务基础研究中心</a:t>
            </a:r>
            <a:endParaRPr lang="zh-CN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8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E984C9DA-5F58-4719-B2A9-6729E8E1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/>
          <a:lstStyle/>
          <a:p>
            <a:pPr algn="ctr"/>
            <a:r>
              <a:rPr lang="zh-CN" altLang="en-US" b="1" dirty="0"/>
              <a:t>创新创业校企联合实践考核要求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66792A0C-70E3-4866-B183-FF7B1309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37" y="1063138"/>
            <a:ext cx="11177296" cy="5645571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 </a:t>
            </a:r>
            <a:r>
              <a:rPr lang="zh-CN" altLang="en-US" dirty="0"/>
              <a:t>基于 </a:t>
            </a:r>
            <a:r>
              <a:rPr lang="en-US" altLang="zh-CN" dirty="0"/>
              <a:t>Open5GS</a:t>
            </a:r>
            <a:r>
              <a:rPr lang="zh-CN" altLang="en-US" dirty="0"/>
              <a:t>（是一个开源项目，用于实现 </a:t>
            </a:r>
            <a:r>
              <a:rPr lang="en-US" altLang="zh-CN" dirty="0"/>
              <a:t>5G 5GC</a:t>
            </a:r>
            <a:r>
              <a:rPr lang="zh-CN" altLang="en-US" dirty="0"/>
              <a:t>和 </a:t>
            </a:r>
            <a:r>
              <a:rPr lang="en-US" altLang="zh-CN" dirty="0"/>
              <a:t>4G LTE </a:t>
            </a:r>
            <a:r>
              <a:rPr lang="zh-CN" altLang="en-US" dirty="0"/>
              <a:t>移动核心网络）</a:t>
            </a:r>
            <a:r>
              <a:rPr lang="en-US" altLang="zh-CN" dirty="0"/>
              <a:t>+ </a:t>
            </a:r>
            <a:r>
              <a:rPr lang="en-US" altLang="zh-CN" dirty="0" err="1"/>
              <a:t>srsRAN</a:t>
            </a:r>
            <a:r>
              <a:rPr lang="zh-CN" altLang="en-US" dirty="0"/>
              <a:t>（是一个</a:t>
            </a:r>
            <a:r>
              <a:rPr lang="en-US" altLang="zh-CN" dirty="0"/>
              <a:t>4G/5G</a:t>
            </a:r>
            <a:r>
              <a:rPr lang="zh-CN" altLang="en-US" dirty="0"/>
              <a:t>开源软件无线电套件，支持</a:t>
            </a:r>
            <a:r>
              <a:rPr lang="en-US" altLang="zh-CN" dirty="0"/>
              <a:t>UE</a:t>
            </a:r>
            <a:r>
              <a:rPr lang="zh-CN" altLang="en-US" dirty="0"/>
              <a:t>和</a:t>
            </a:r>
            <a:r>
              <a:rPr lang="en-US" altLang="zh-CN" dirty="0" err="1"/>
              <a:t>eNodeB</a:t>
            </a:r>
            <a:r>
              <a:rPr lang="en-US" altLang="zh-CN" dirty="0"/>
              <a:t>/</a:t>
            </a:r>
            <a:r>
              <a:rPr lang="en-US" altLang="zh-CN" dirty="0" err="1"/>
              <a:t>gNodeB</a:t>
            </a:r>
            <a:r>
              <a:rPr lang="zh-CN" altLang="en-US" dirty="0"/>
              <a:t>应用，可与第三方核心网络解决方案一起使用，构建完整的端到端移动通信网络）</a:t>
            </a:r>
            <a:r>
              <a:rPr lang="en-US" altLang="zh-CN" dirty="0"/>
              <a:t>+ USRP B210</a:t>
            </a:r>
            <a:r>
              <a:rPr lang="zh-CN" altLang="en-US" dirty="0"/>
              <a:t>（是一款软件定义无线电平台，实现无线射频信号收发）</a:t>
            </a:r>
            <a:r>
              <a:rPr lang="en-US" altLang="zh-CN" dirty="0"/>
              <a:t>+ </a:t>
            </a:r>
            <a:r>
              <a:rPr lang="zh-CN" altLang="en-US" dirty="0"/>
              <a:t>真实手机（带可读写白卡），搭建一个端到端的</a:t>
            </a:r>
            <a:r>
              <a:rPr lang="en-US" altLang="zh-CN" dirty="0"/>
              <a:t>4G/5G</a:t>
            </a:r>
            <a:r>
              <a:rPr lang="zh-CN" altLang="en-US" dirty="0"/>
              <a:t>移动通信网络 。                                                 </a:t>
            </a:r>
            <a:r>
              <a:rPr lang="zh-CN" altLang="en-US" dirty="0">
                <a:sym typeface="Wingdings" panose="05000000000000000000" pitchFamily="2" charset="2"/>
              </a:rPr>
              <a:t> 基于搭建好的移动核心网，与</a:t>
            </a:r>
            <a:r>
              <a:rPr lang="en-US" altLang="zh-CN" dirty="0">
                <a:sym typeface="Wingdings" panose="05000000000000000000" pitchFamily="2" charset="2"/>
              </a:rPr>
              <a:t>IMS</a:t>
            </a:r>
            <a:r>
              <a:rPr lang="zh-CN" altLang="en-US" dirty="0">
                <a:sym typeface="Wingdings" panose="05000000000000000000" pitchFamily="2" charset="2"/>
              </a:rPr>
              <a:t>解决方案（如</a:t>
            </a:r>
            <a:r>
              <a:rPr lang="en-US" altLang="zh-CN" dirty="0" err="1">
                <a:sym typeface="Wingdings" panose="05000000000000000000" pitchFamily="2" charset="2"/>
              </a:rPr>
              <a:t>Kamailio</a:t>
            </a:r>
            <a:r>
              <a:rPr lang="zh-CN" altLang="en-US" dirty="0">
                <a:sym typeface="Wingdings" panose="05000000000000000000" pitchFamily="2" charset="2"/>
              </a:rPr>
              <a:t>）集成以提供 </a:t>
            </a:r>
            <a:r>
              <a:rPr lang="en-US" altLang="zh-CN" dirty="0">
                <a:sym typeface="Wingdings" panose="05000000000000000000" pitchFamily="2" charset="2"/>
              </a:rPr>
              <a:t>VoLTE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Voice over LTE</a:t>
            </a:r>
            <a:r>
              <a:rPr lang="zh-CN" altLang="en-US" dirty="0">
                <a:sym typeface="Wingdings" panose="05000000000000000000" pitchFamily="2" charset="2"/>
              </a:rPr>
              <a:t>）和 </a:t>
            </a:r>
            <a:r>
              <a:rPr lang="en-US" altLang="zh-CN" dirty="0" err="1">
                <a:sym typeface="Wingdings" panose="05000000000000000000" pitchFamily="2" charset="2"/>
              </a:rPr>
              <a:t>VoNR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Voice over New Radio</a:t>
            </a:r>
            <a:r>
              <a:rPr lang="zh-CN" altLang="en-US" dirty="0">
                <a:sym typeface="Wingdings" panose="05000000000000000000" pitchFamily="2" charset="2"/>
              </a:rPr>
              <a:t>）等多媒体服务。                                                                                                    将实践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实现的</a:t>
            </a:r>
            <a:r>
              <a:rPr lang="en-US" altLang="zh-CN" dirty="0"/>
              <a:t>Android</a:t>
            </a:r>
            <a:r>
              <a:rPr lang="zh-CN" altLang="en-US" dirty="0"/>
              <a:t>客户端、实践</a:t>
            </a:r>
            <a:r>
              <a:rPr lang="en-US" altLang="zh-CN" dirty="0"/>
              <a:t>1</a:t>
            </a:r>
            <a:r>
              <a:rPr lang="zh-CN" altLang="en-US" dirty="0"/>
              <a:t>实现的</a:t>
            </a:r>
            <a:r>
              <a:rPr lang="en-US" altLang="zh-CN" dirty="0"/>
              <a:t>PC</a:t>
            </a:r>
            <a:r>
              <a:rPr lang="zh-CN" altLang="en-US" dirty="0"/>
              <a:t>客户端接入到上述网络，实现音视频互通。</a:t>
            </a:r>
            <a:endParaRPr lang="en-US" altLang="zh-CN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dirty="0"/>
              <a:t>分组完成，具体分组与</a:t>
            </a:r>
            <a:r>
              <a:rPr lang="en-US" altLang="zh-CN" dirty="0"/>
              <a:t>《</a:t>
            </a:r>
            <a:r>
              <a:rPr lang="zh-CN" altLang="en-US" dirty="0"/>
              <a:t>面向特色化领域的实践</a:t>
            </a:r>
            <a:r>
              <a:rPr lang="en-US" altLang="zh-CN" dirty="0"/>
              <a:t>2 》</a:t>
            </a:r>
            <a:r>
              <a:rPr lang="zh-CN" altLang="en-US" dirty="0"/>
              <a:t>课程一致。</a:t>
            </a:r>
            <a:endParaRPr lang="en-US" altLang="zh-CN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dirty="0"/>
              <a:t>考核需提交以下文件：</a:t>
            </a:r>
            <a:endParaRPr lang="en-US" altLang="zh-CN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900" dirty="0"/>
              <a:t>小组实验报告</a:t>
            </a:r>
            <a:endParaRPr lang="en-US" altLang="zh-CN" sz="2900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900" dirty="0"/>
              <a:t>个人实践报告</a:t>
            </a:r>
            <a:endParaRPr lang="en-US" altLang="zh-CN" sz="2900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900" dirty="0"/>
              <a:t>实践汇报</a:t>
            </a:r>
            <a:r>
              <a:rPr lang="en-US" altLang="zh-CN" sz="2900" dirty="0"/>
              <a:t>PPT</a:t>
            </a:r>
            <a:endParaRPr lang="zh-CN" altLang="zh-CN" sz="2900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ransition spd="slow" advTm="2896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E984C9DA-5F58-4719-B2A9-6729E8E1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7001"/>
            <a:ext cx="8229600" cy="782086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验收评分标准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66792A0C-70E3-4866-B183-FF7B1309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92" y="745899"/>
            <a:ext cx="3787452" cy="579048"/>
          </a:xfrm>
        </p:spPr>
        <p:txBody>
          <a:bodyPr>
            <a:normAutofit/>
          </a:bodyPr>
          <a:lstStyle/>
          <a:p>
            <a:pPr marL="514350" indent="-514350" algn="just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/>
              <a:t>实践成绩分</a:t>
            </a:r>
            <a:r>
              <a:rPr lang="en-US" altLang="zh-CN" b="1" dirty="0"/>
              <a:t>5</a:t>
            </a:r>
            <a:r>
              <a:rPr lang="zh-CN" altLang="en-US" b="1" dirty="0"/>
              <a:t>档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1330C1-66AE-4E9E-8FBC-7127B61C7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07" y="732823"/>
            <a:ext cx="7136409" cy="61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0961"/>
      </p:ext>
    </p:extLst>
  </p:cSld>
  <p:clrMapOvr>
    <a:masterClrMapping/>
  </p:clrMapOvr>
  <p:transition spd="slow" advTm="2896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E984C9DA-5F58-4719-B2A9-6729E8E1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993775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验收安排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66792A0C-70E3-4866-B183-FF7B1309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68414"/>
            <a:ext cx="10363199" cy="511178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b="1" dirty="0"/>
              <a:t>验收时间：</a:t>
            </a:r>
            <a:r>
              <a:rPr lang="en-US" altLang="zh-CN" b="1" dirty="0"/>
              <a:t>2026.7.8 </a:t>
            </a:r>
            <a:r>
              <a:rPr lang="zh-CN" altLang="en-US" b="1" dirty="0"/>
              <a:t>下午，每组验收时间：</a:t>
            </a:r>
            <a:r>
              <a:rPr lang="en-US" altLang="zh-CN" b="1" dirty="0"/>
              <a:t>25</a:t>
            </a:r>
            <a:r>
              <a:rPr lang="zh-CN" altLang="en-US" b="1" dirty="0"/>
              <a:t>分钟，其中</a:t>
            </a:r>
            <a:r>
              <a:rPr lang="en-US" altLang="zh-CN" b="1" dirty="0"/>
              <a:t>PPT</a:t>
            </a:r>
            <a:r>
              <a:rPr lang="zh-CN" altLang="en-US" b="1" dirty="0"/>
              <a:t>汇报</a:t>
            </a:r>
            <a:r>
              <a:rPr lang="en-US" altLang="zh-CN" b="1" dirty="0"/>
              <a:t>5</a:t>
            </a:r>
            <a:r>
              <a:rPr lang="zh-CN" altLang="en-US" b="1" dirty="0"/>
              <a:t>分钟，系统演示与交流</a:t>
            </a:r>
            <a:r>
              <a:rPr lang="en-US" altLang="zh-CN" b="1" dirty="0"/>
              <a:t>20</a:t>
            </a:r>
            <a:r>
              <a:rPr lang="zh-CN" altLang="en-US" b="1" dirty="0"/>
              <a:t>分钟。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b="1" dirty="0"/>
              <a:t>验收顺序：与实践</a:t>
            </a:r>
            <a:r>
              <a:rPr lang="en-US" altLang="zh-CN" b="1" dirty="0"/>
              <a:t>2</a:t>
            </a:r>
            <a:r>
              <a:rPr lang="zh-CN" altLang="en-US" b="1" dirty="0"/>
              <a:t>的验收顺序一致。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CN" altLang="en-US" b="1" dirty="0"/>
              <a:t>验收注意事项：</a:t>
            </a:r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b="1" dirty="0"/>
              <a:t>实验报告上务必明确写明小组各成员的贡献度，贡献度可以相同，也可以不同。</a:t>
            </a:r>
            <a:endParaRPr lang="en-US" altLang="zh-CN" b="1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b="1" dirty="0"/>
              <a:t>系统演示必须在</a:t>
            </a:r>
            <a:r>
              <a:rPr lang="en-US" altLang="zh-CN" b="1" dirty="0"/>
              <a:t>4G/5G</a:t>
            </a:r>
            <a:r>
              <a:rPr lang="zh-CN" altLang="en-US" b="1" dirty="0"/>
              <a:t>仿真环境下进行，需要</a:t>
            </a:r>
            <a:r>
              <a:rPr lang="en-US" altLang="zh-CN" b="1" dirty="0"/>
              <a:t>2</a:t>
            </a:r>
            <a:r>
              <a:rPr lang="zh-CN" altLang="en-US" b="1" dirty="0"/>
              <a:t>台手机</a:t>
            </a:r>
            <a:r>
              <a:rPr lang="en-US" altLang="zh-CN" b="1" dirty="0"/>
              <a:t>+1</a:t>
            </a:r>
            <a:r>
              <a:rPr lang="zh-CN" altLang="en-US" b="1" dirty="0"/>
              <a:t>台</a:t>
            </a:r>
            <a:r>
              <a:rPr lang="en-US" altLang="zh-CN" b="1" dirty="0"/>
              <a:t>PC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b="1" dirty="0"/>
              <a:t>所有验收材料需要在</a:t>
            </a:r>
            <a:r>
              <a:rPr lang="en-US" altLang="zh-CN" b="1" dirty="0"/>
              <a:t>2026</a:t>
            </a:r>
            <a:r>
              <a:rPr lang="zh-CN" altLang="en-US" b="1" dirty="0"/>
              <a:t>年</a:t>
            </a:r>
            <a:r>
              <a:rPr lang="en-US" altLang="zh-CN" b="1" dirty="0"/>
              <a:t>7</a:t>
            </a:r>
            <a:r>
              <a:rPr lang="zh-CN" altLang="en-US" b="1" dirty="0"/>
              <a:t>月</a:t>
            </a:r>
            <a:r>
              <a:rPr lang="en-US" altLang="zh-CN" b="1" dirty="0"/>
              <a:t>7</a:t>
            </a:r>
            <a:r>
              <a:rPr lang="zh-CN" altLang="en-US" b="1" dirty="0"/>
              <a:t>日晚</a:t>
            </a:r>
            <a:r>
              <a:rPr lang="en-US" altLang="zh-CN" b="1" dirty="0"/>
              <a:t>10</a:t>
            </a:r>
            <a:r>
              <a:rPr lang="zh-CN" altLang="en-US" b="1" dirty="0"/>
              <a:t>点之前发给助教 徐祥。</a:t>
            </a:r>
            <a:endParaRPr lang="en-US" altLang="zh-CN" b="1" dirty="0"/>
          </a:p>
          <a:p>
            <a:pPr marL="971550" lvl="1" indent="-514350">
              <a:lnSpc>
                <a:spcPct val="110000"/>
              </a:lnSpc>
              <a:buFont typeface="+mj-ea"/>
              <a:buAutoNum type="circleNumDbPlain"/>
            </a:pPr>
            <a:r>
              <a:rPr lang="zh-CN" altLang="en-US" b="1" dirty="0"/>
              <a:t>验收材料包括：小组实验报告、小组所有成员的个人实践报告、 项目汇报</a:t>
            </a:r>
            <a:r>
              <a:rPr lang="en-US" altLang="zh-CN" b="1" dirty="0"/>
              <a:t>PPT</a:t>
            </a:r>
            <a:r>
              <a:rPr lang="zh-CN" altLang="en-US" b="1" dirty="0"/>
              <a:t>。所有材料压缩后以 小组编号</a:t>
            </a:r>
            <a:r>
              <a:rPr lang="en-US" altLang="zh-CN" b="1" dirty="0"/>
              <a:t>-</a:t>
            </a:r>
            <a:r>
              <a:rPr lang="zh-CN" altLang="en-US" b="1" dirty="0"/>
              <a:t>联合实践</a:t>
            </a:r>
            <a:r>
              <a:rPr lang="en-US" altLang="zh-CN" b="1" dirty="0"/>
              <a:t> </a:t>
            </a:r>
            <a:r>
              <a:rPr lang="zh-CN" altLang="en-US" b="1" dirty="0"/>
              <a:t>命名。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7496581"/>
      </p:ext>
    </p:extLst>
  </p:cSld>
  <p:clrMapOvr>
    <a:masterClrMapping/>
  </p:clrMapOvr>
  <p:transition spd="slow" advTm="2896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——Open5GS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82121" y="885180"/>
            <a:ext cx="10650870" cy="532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是一个开源项目，用于实现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4G LTE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移动核心网络，它提供了完整的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Evolved Packet Core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分组核心网）和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 Core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核心网）组件。让开发者和研究人员能够搭建和测试移动通信网络环境。它继承自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NextEPC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，且社区支持良好，尤其是对于实验室环境和小型商业部署非常合适。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，其特点是仅有分组域而无电路域、基于全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结构、控制与承载分离、网络结构扁平化。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，其控制面采用服务化架构设计（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SBA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Service Based Architecture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），将网络功能（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）进行了拆分，而所有的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又都通过接口接入到系统中，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SBA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设计的目标是以软件服务重构核心网，实现核心网软件化、灵活化、开放化、智慧化。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1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——Open5GS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405896" y="912271"/>
            <a:ext cx="11462254" cy="532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SBA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架构关键技术点：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）服务的提供通过生产者（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Producer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）与消费者（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Consumer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）之间的消息交互来达成。交互模式简化为两种：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Request-Response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Subscribe-Notify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）实现了服务的自动化注册和发现。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通过服务化接口，将自身的能力作为一种服务暴露到网络中，并被其他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复用；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通过服务化接口的发现获取拥有所需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服务的其它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实例。这种注册和发现通过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的新型网络功能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NRF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NRF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接收其它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发来的服务注册信息，维护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实例的相关信息和支持的服务信息；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NRF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接收其它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发来的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发现请求，返回对应的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NF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实例信息。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）采用统一服务化接口协议。目前定义的接口协议栈，从下往上在传输层采用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，在应用层采用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HTTP/2.0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，在序列化协议方面采用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JSON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，接口描述语言采用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OpenAPI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3.0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的设计方式采用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RESTFul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4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——Open5GS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BF23508-828D-4028-B6FD-2932BFE6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499" y="850191"/>
            <a:ext cx="7758113" cy="539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9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——Open5GS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82121" y="1245646"/>
            <a:ext cx="10650870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AMF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Access and Mobility Management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），负责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5G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核心网的接入和移动管理。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SMF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Session Management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），负责会话管理。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NSSF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The Network Slice Selection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），网络切片选择功能。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AUSF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Authentication Server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），认证服务器功能。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UDM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Unified Data Management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），用户数据标识，统一数据管理。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SMSF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Short Message Service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），短消息服务功能。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Policy Control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），策略控制功能。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UPF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User plane function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），用户面功能。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3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——Open5GS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03F1D3-126E-4FC5-AE8D-BD786305AF7E}"/>
              </a:ext>
            </a:extLst>
          </p:cNvPr>
          <p:cNvSpPr/>
          <p:nvPr/>
        </p:nvSpPr>
        <p:spPr>
          <a:xfrm>
            <a:off x="1306872" y="1943176"/>
            <a:ext cx="9553576" cy="3709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       </a:t>
            </a:r>
            <a:r>
              <a:rPr lang="en-US" altLang="zh-CN" sz="3200" b="1" dirty="0"/>
              <a:t>Open5GS</a:t>
            </a:r>
            <a:r>
              <a:rPr lang="zh-CN" altLang="en-US" sz="3200" b="1" dirty="0"/>
              <a:t>是一个</a:t>
            </a:r>
            <a:r>
              <a:rPr lang="en-US" altLang="zh-CN" sz="3200" b="1" dirty="0"/>
              <a:t>4G/5G</a:t>
            </a:r>
            <a:r>
              <a:rPr lang="zh-CN" altLang="en-US" sz="3200" b="1" dirty="0"/>
              <a:t>核心网络框架，可以与</a:t>
            </a:r>
            <a:r>
              <a:rPr lang="en-US" altLang="zh-CN" sz="3200" b="1" dirty="0"/>
              <a:t>IMS</a:t>
            </a:r>
            <a:r>
              <a:rPr lang="zh-CN" altLang="en-US" sz="3200" b="1" dirty="0"/>
              <a:t>解决方案（如</a:t>
            </a:r>
            <a:r>
              <a:rPr lang="en-US" altLang="zh-CN" sz="3200" b="1" dirty="0" err="1"/>
              <a:t>Kamailio</a:t>
            </a:r>
            <a:r>
              <a:rPr lang="zh-CN" altLang="en-US" sz="3200" b="1" dirty="0"/>
              <a:t>）集成以提供 </a:t>
            </a:r>
            <a:r>
              <a:rPr lang="en-US" altLang="zh-CN" sz="3200" b="1" dirty="0"/>
              <a:t>VoLTE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Voice over LTE</a:t>
            </a:r>
            <a:r>
              <a:rPr lang="zh-CN" altLang="en-US" sz="3200" b="1" dirty="0"/>
              <a:t>）和 </a:t>
            </a:r>
            <a:r>
              <a:rPr lang="en-US" altLang="zh-CN" sz="3200" b="1" dirty="0" err="1"/>
              <a:t>VoNR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Voice over New Radio</a:t>
            </a:r>
            <a:r>
              <a:rPr lang="zh-CN" altLang="en-US" sz="3200" b="1" dirty="0"/>
              <a:t>）等多媒体业务。</a:t>
            </a:r>
          </a:p>
          <a:p>
            <a:pPr>
              <a:lnSpc>
                <a:spcPct val="150000"/>
              </a:lnSpc>
            </a:pP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2851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en-US" altLang="zh-CN" dirty="0"/>
              <a:t>IMS</a:t>
            </a:r>
            <a:r>
              <a:rPr lang="zh-CN" altLang="en-US" dirty="0"/>
              <a:t>，其核心是</a:t>
            </a:r>
            <a:r>
              <a:rPr lang="en-US" altLang="zh-CN" dirty="0"/>
              <a:t>SIP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03F1D3-126E-4FC5-AE8D-BD786305AF7E}"/>
              </a:ext>
            </a:extLst>
          </p:cNvPr>
          <p:cNvSpPr/>
          <p:nvPr/>
        </p:nvSpPr>
        <p:spPr>
          <a:xfrm>
            <a:off x="438540" y="819840"/>
            <a:ext cx="11364684" cy="6294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         SIP Proxy Server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IMS</a:t>
            </a:r>
            <a:r>
              <a:rPr lang="zh-CN" altLang="en-US" sz="2400" b="1" dirty="0"/>
              <a:t>称为</a:t>
            </a:r>
            <a:r>
              <a:rPr lang="en-US" altLang="zh-CN" sz="2400" b="1" dirty="0"/>
              <a:t>CSCF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 Call Session Control Function</a:t>
            </a:r>
            <a:r>
              <a:rPr lang="zh-CN" altLang="en-US" sz="2400" b="1" dirty="0"/>
              <a:t>，呼叫会话控制功能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），并且又把它分成多个子系统，其中代理</a:t>
            </a:r>
            <a:r>
              <a:rPr lang="en-US" altLang="zh-CN" sz="2400" b="1" dirty="0"/>
              <a:t>CSCF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P-CSCF</a:t>
            </a:r>
            <a:r>
              <a:rPr lang="zh-CN" altLang="en-US" sz="2400" b="1" dirty="0"/>
              <a:t>）直接与终端交互，然后交给查询</a:t>
            </a:r>
            <a:r>
              <a:rPr lang="en-US" altLang="zh-CN" sz="2400" b="1" dirty="0"/>
              <a:t>CSCF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I-CSCF</a:t>
            </a:r>
            <a:r>
              <a:rPr lang="zh-CN" altLang="en-US" sz="2400" b="1" dirty="0"/>
              <a:t>），</a:t>
            </a:r>
            <a:r>
              <a:rPr lang="en-US" altLang="zh-CN" sz="2400" b="1" dirty="0"/>
              <a:t>I-CSCF</a:t>
            </a:r>
            <a:r>
              <a:rPr lang="zh-CN" altLang="en-US" sz="2400" b="1" dirty="0"/>
              <a:t>会查询</a:t>
            </a:r>
            <a:r>
              <a:rPr lang="en-US" altLang="zh-CN" sz="2400" b="1" dirty="0"/>
              <a:t>HSS</a:t>
            </a:r>
            <a:r>
              <a:rPr lang="zh-CN" altLang="en-US" sz="2400" b="1" dirty="0"/>
              <a:t>数据，对用户名和密码进行认证，查询是否欠费，开通或关闭的业务，根据接入</a:t>
            </a:r>
            <a:r>
              <a:rPr lang="en-US" altLang="zh-CN" sz="2400" b="1" dirty="0"/>
              <a:t>P-CSCF</a:t>
            </a:r>
            <a:r>
              <a:rPr lang="zh-CN" altLang="en-US" sz="2400" b="1" dirty="0"/>
              <a:t>判断你是不是漫游。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         整个呼叫过程，</a:t>
            </a:r>
            <a:r>
              <a:rPr lang="en-US" altLang="zh-CN" sz="2400" b="1" dirty="0"/>
              <a:t>P-CSCF</a:t>
            </a:r>
            <a:r>
              <a:rPr lang="zh-CN" altLang="en-US" sz="2400" b="1" dirty="0"/>
              <a:t>是不做复杂工作的，</a:t>
            </a:r>
            <a:r>
              <a:rPr lang="en-US" altLang="zh-CN" sz="2400" b="1" dirty="0"/>
              <a:t>P-CSCF</a:t>
            </a:r>
            <a:r>
              <a:rPr lang="zh-CN" altLang="en-US" sz="2400" b="1" dirty="0"/>
              <a:t>只负责接收</a:t>
            </a:r>
            <a:r>
              <a:rPr lang="en-US" altLang="zh-CN" sz="2400" b="1" dirty="0"/>
              <a:t>SIP</a:t>
            </a:r>
            <a:r>
              <a:rPr lang="zh-CN" altLang="en-US" sz="2400" b="1" dirty="0"/>
              <a:t>消息，它相当于对外联络点，然后</a:t>
            </a:r>
            <a:r>
              <a:rPr lang="en-US" altLang="zh-CN" sz="2400" b="1" dirty="0"/>
              <a:t>SIP</a:t>
            </a:r>
            <a:r>
              <a:rPr lang="zh-CN" altLang="en-US" sz="2400" b="1" dirty="0"/>
              <a:t>消息会到达</a:t>
            </a:r>
            <a:r>
              <a:rPr lang="en-US" altLang="zh-CN" sz="2400" b="1" dirty="0"/>
              <a:t>I-CSCF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I-CSCF</a:t>
            </a:r>
            <a:r>
              <a:rPr lang="zh-CN" altLang="en-US" sz="2400" b="1" dirty="0"/>
              <a:t>是运营商核心网络（就是运营商内部网络）的入口，它会根据</a:t>
            </a:r>
            <a:r>
              <a:rPr lang="en-US" altLang="zh-CN" sz="2400" b="1" dirty="0"/>
              <a:t>HSS</a:t>
            </a:r>
            <a:r>
              <a:rPr lang="zh-CN" altLang="en-US" sz="2400" b="1" dirty="0"/>
              <a:t>查找到用户属于哪个地区，会对应分配一个空闲的为该地区服务的</a:t>
            </a:r>
            <a:r>
              <a:rPr lang="en-US" altLang="zh-CN" sz="2400" b="1" dirty="0"/>
              <a:t>S-CSCF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S-CSCF</a:t>
            </a:r>
            <a:r>
              <a:rPr lang="zh-CN" altLang="en-US" sz="2400" b="1" dirty="0"/>
              <a:t>是真正的</a:t>
            </a:r>
            <a:r>
              <a:rPr lang="en-US" altLang="zh-CN" sz="2400" b="1" dirty="0"/>
              <a:t>VoIP</a:t>
            </a:r>
            <a:r>
              <a:rPr lang="zh-CN" altLang="en-US" sz="2400" b="1" dirty="0"/>
              <a:t>里</a:t>
            </a:r>
            <a:r>
              <a:rPr lang="en-US" altLang="zh-CN" sz="2400" b="1" dirty="0"/>
              <a:t>Proxy Server</a:t>
            </a:r>
            <a:r>
              <a:rPr lang="zh-CN" altLang="en-US" sz="2400" b="1" dirty="0"/>
              <a:t>的角色，</a:t>
            </a:r>
            <a:r>
              <a:rPr lang="en-US" altLang="zh-CN" sz="2400" b="1" dirty="0"/>
              <a:t>S-CSCF</a:t>
            </a:r>
            <a:r>
              <a:rPr lang="zh-CN" altLang="en-US" sz="2400" b="1" dirty="0"/>
              <a:t>完成用户注册认证和呼叫的路由处理，以及电话业务的触发（</a:t>
            </a:r>
            <a:r>
              <a:rPr lang="en-US" altLang="zh-CN" sz="2400" b="1" dirty="0"/>
              <a:t>IMS</a:t>
            </a:r>
            <a:r>
              <a:rPr lang="zh-CN" altLang="en-US" sz="2400" b="1" dirty="0"/>
              <a:t>称为</a:t>
            </a:r>
            <a:r>
              <a:rPr lang="en-US" altLang="zh-CN" sz="2400" b="1" dirty="0"/>
              <a:t>AS</a:t>
            </a:r>
            <a:r>
              <a:rPr lang="zh-CN" altLang="en-US" sz="2400" b="1" dirty="0"/>
              <a:t>，另外独立成一个子系统）。</a:t>
            </a:r>
          </a:p>
          <a:p>
            <a:pPr>
              <a:lnSpc>
                <a:spcPct val="150000"/>
              </a:lnSpc>
            </a:pP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8215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Kamailio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292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是一个高性能的开源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会话初始协议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服务器，凭借其强大的功能和灵活的配置，已成为众多企业和个人用户的首选。无论是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电话运营商、企业用户还是个人开发者，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都能为其提供稳定、安全的通信解决方案。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可以配置为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核心组件的一部分。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通过其模块提供了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功能的支持，包括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等组件。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14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Kamailio</a:t>
            </a:r>
            <a:r>
              <a:rPr lang="zh-CN" altLang="en-US" dirty="0">
                <a:sym typeface="Arial" panose="020B0604020202020204" pitchFamily="34" charset="0"/>
              </a:rPr>
              <a:t>的核心特性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364873" y="1169446"/>
            <a:ext cx="11462254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高性能与并发处理能力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设计用于处理大量并发呼叫，具有出色的性能和稳定性。它能够高效地管理并转发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消息，确保每一次通话都能够顺畅无阻地进行。无论是在处理大规模的并发请求，还是实现复杂的路由逻辑方面，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都能游刃有余。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灵活性与可扩展性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支持多种配置和扩展，能够适应不同的应用场景。它提供了丰富的模块库，用户可以根据需求选择并配置相应的模块，以实现特定的功能。此外，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还支持自定义模块的开发，为用户提供了广阔的技术探索空间。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8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Kamailio</a:t>
            </a:r>
            <a:r>
              <a:rPr lang="zh-CN" altLang="en-US" dirty="0">
                <a:sym typeface="Arial" panose="020B0604020202020204" pitchFamily="34" charset="0"/>
              </a:rPr>
              <a:t>的核心特性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364873" y="1245646"/>
            <a:ext cx="11462254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安全性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内置多种安全机制，确保通信的安全性。它支持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TLS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Transport Layer Security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，传输层安全协议）加密，可以保护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消息的传输过程不被窃取或篡改。同时，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还支持认证和授权功能，确保只有合法的用户才能访问和使用系统。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丰富的功能与模块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不仅支持基本的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功能，如注册、呼叫、转接等，还提供了许多高级功能，如负载均衡、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NAT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穿越、媒体代理等。此外，它的模块库中包含了许多实用的模块，如数据库连接模块、脚本执行模块等，可以满足用户多样化的需求。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89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Kamailio</a:t>
            </a:r>
            <a:r>
              <a:rPr lang="zh-CN" altLang="en-US" dirty="0">
                <a:sym typeface="Arial" panose="020B0604020202020204" pitchFamily="34" charset="0"/>
              </a:rPr>
              <a:t>的应用场景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364873" y="921796"/>
            <a:ext cx="11462254" cy="5807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电话运营商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可以用于处理大规模的呼叫路由和用户管理，为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电话运营商提供稳定可靠的解决方案。它能够高效地处理大量并发呼叫，确保通话的顺畅进行。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企业通信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可以为企业提供内部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通信解决方案。它支持多种通信方式，如语音通话、视频会议等，可以满足企业多样化的通信需求。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个人用户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个人用户可以使用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搭建个人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服务，实现低成本的语音通信。通过配置和定制模块，个人用户可以根据自己的需求来设置和使用系统。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即时消息和在线状态管理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还支持实时消息传递和用户在线状态管理功能。它可以与其他即时通讯系统集成，为用户提供丰富的通信体验。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52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Doubango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292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是一个开源的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基础平台， 并能用于嵌入式和桌面系统的开源框架，该框架使用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ANSCI-C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编写，具有很好的可移植性。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提供了一套丰富的开源库和框架，用于实现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、视频会议和实时通信应用。它的一些组件可以用于构建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相关的功能，尤其是在客户端技术方面，可以作为工具库使用。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1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Doubango</a:t>
            </a:r>
            <a:r>
              <a:rPr lang="zh-CN" altLang="en-US" dirty="0">
                <a:sym typeface="Arial" panose="020B0604020202020204" pitchFamily="34" charset="0"/>
              </a:rPr>
              <a:t>的核心技术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1108309" y="1346845"/>
            <a:ext cx="9950702" cy="4403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支持完整的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RFC 3261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3GPP TS 24.229 Rel-9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</a:p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3GPP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定义的安全机制，例如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IMS-AKA</a:t>
            </a:r>
          </a:p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IPv4/IPv6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双栈通信</a:t>
            </a:r>
          </a:p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多种传输协议：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UDP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TLS</a:t>
            </a:r>
          </a:p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NAT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穿越（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STUN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TURN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</a:p>
          <a:p>
            <a:pPr marL="342900" indent="-342900" algn="just">
              <a:lnSpc>
                <a:spcPct val="15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此外，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还支持许多高级功能，如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SigComp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压缩、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IPSec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安全协议、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ENUM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SMS over 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8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基础开源框架</a:t>
            </a:r>
            <a:r>
              <a:rPr lang="en-US" altLang="zh-CN" dirty="0"/>
              <a:t>——</a:t>
            </a:r>
            <a:r>
              <a:rPr lang="en-US" altLang="zh-CN" dirty="0" err="1"/>
              <a:t>Doubango</a:t>
            </a:r>
            <a:r>
              <a:rPr lang="zh-CN" altLang="en-US" dirty="0">
                <a:sym typeface="Arial" panose="020B0604020202020204" pitchFamily="34" charset="0"/>
              </a:rPr>
              <a:t>的应用场景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732071" y="1365311"/>
            <a:ext cx="10703177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提供了丰富的客户端与服务器端组件，涵盖多种操作系统平台：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客户端：有针对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Windows Phone 8/Surface Pro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Boghe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Android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IMSDroid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以及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iOS/Mac OS 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iDoubs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应用。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服务器端：包括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WebRTC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的智能网关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webrtc2sip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视频会议系统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telepresence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Adobe Flash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的连接器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Flash2IMS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这些组件使得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可以应用于实时通信、视频通话、多媒体会议、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VoLTE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及短信服务等多种场景。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04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实验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445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Open5GS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集成在一起，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可以搭建一个强大的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解决方案框架，尤其适用于实现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VoLTE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VoNR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或其他多媒体服务。这样的框架可以提供从核心网络到应用层的全栈服务。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Open5GS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Open5GS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4G/5G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核心网络功能，包括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AMF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MME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SGW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PGW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4G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）等组件。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集成点：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它可以通过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N1/N2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接口（在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5G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中）或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S1-MME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接口（在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4G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中）与无线接入网络连接，并提供用户平面和控制平面功能。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53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实验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3295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Kamailio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是一个强大的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SIP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服务器，可以配置为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的一部分，处理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SIP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信令和会话管理，具体可以承担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P-CSCF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I-CSCF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S-CSCF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的角色。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集成点：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IMS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架构中，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可以处理所有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SIP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相关的流程，并与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Open5GS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配合，实现诸如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VoLTE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VoNR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音视频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通话功能。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13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实验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Telecom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提供了一系列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VoIP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和实时通信的工具和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SDK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，可以用于开发支持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VoLTE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的客户端应用或实现其他多媒体通信服务。</a:t>
            </a:r>
          </a:p>
          <a:p>
            <a:pPr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集成点：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的客户端技术可以与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Open5GS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搭配使用，提供端到端的通信解决方案。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7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实施步骤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4846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搭建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网络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确保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环境已经正确搭建并运行。注意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的配置。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部署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系统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选择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作为开源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解决方案，然后在网络环境中部署。配置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以确保能处理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注册、会话建立和其他相关过程。需要配置如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S-CSCF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等组件，并确保能与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交互。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注意：配置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DNS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解析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DNS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来解析服务域名。因此，需要在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DNS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服务器上配置相应的记录，以便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组件和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终端能够找到彼此。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4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实施步骤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集成和测试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确保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系统能够互相通信。需要在两个系统之间配置适当的路由和信令路径。对于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VoLTE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或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VoNR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服务，确保从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的数据路径（用户面和控制面）都已正确设置。进行呼叫流程测试，包括注册、呼叫建立、媒体传输等，以验证整个系统的功能。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客户端配置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客户端设备（如支持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VoLTE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的手机或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客户端）正确配置，包括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服务器、域名等。这些设备应能通过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网络连接到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IMS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系统。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26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相关资料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4366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的官网是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https://open5gs.org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可以找到关于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的详细信息，包括文档、安装指南、最新动态和社区论坛；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Open5GS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的源代码和一部分文档可以在其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GitHub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仓库中找到。访问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Open5GS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GitHub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仓库下载最新的源代码，可以使用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Git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克隆仓库或直接下载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ZIP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文件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https://github.com/open5gs/open5gs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Open5GS GitHub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论坛：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 https://github.com/open5gs/open5gs/discussions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37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相关资料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292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的官网是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https://www.kamailio.org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可以找到关于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的综合信息，包括文档、教程、安装指南、配置示例以及社区论坛。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访问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Kamailio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GitHub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仓库可以下载源码：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   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https://github.com/kamailio/kamailio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15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相关资料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5" y="1094660"/>
            <a:ext cx="10650870" cy="2926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Telecom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官网是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https://www.doubango.org 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可以找到关于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Telecom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提供的各种通信解决方案和产品的信息，包括开源项目、商业产品以及相关的技术文档和支持信息。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Doubango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SIP/IMS/VoIP SDKs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，网站上通常会有指向相应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GitHub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仓库的链接，可以从那里获取源代码。</a:t>
            </a:r>
          </a:p>
          <a:p>
            <a:pPr marL="342900" indent="-342900" algn="just">
              <a:lnSpc>
                <a:spcPct val="130000"/>
              </a:lnSpc>
              <a:buClr>
                <a:srgbClr val="3FA30C"/>
              </a:buClr>
              <a:buFont typeface="Wingdings" panose="05000000000000000000" pitchFamily="2" charset="2"/>
              <a:buChar char="Ø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85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r>
              <a:rPr lang="zh-CN" altLang="en-US" dirty="0"/>
              <a:t>相关资料</a:t>
            </a:r>
            <a:endParaRPr lang="zh-CN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AD564B5-A17A-4866-9F3A-5A37313F8810}"/>
              </a:ext>
            </a:extLst>
          </p:cNvPr>
          <p:cNvSpPr/>
          <p:nvPr/>
        </p:nvSpPr>
        <p:spPr bwMode="auto">
          <a:xfrm>
            <a:off x="-24680" y="6277491"/>
            <a:ext cx="12216680" cy="35571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348" name="1          _3"/>
          <p:cNvSpPr txBox="1"/>
          <p:nvPr/>
        </p:nvSpPr>
        <p:spPr>
          <a:xfrm>
            <a:off x="674354" y="1094660"/>
            <a:ext cx="11269995" cy="245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https://blog.51cto.com/u_12204/11172682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https://open5gs.org/open5gs/docs/tutorial/03-VoLTE-dockerized/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https://huaweicloud.csdn.net/6707d766e2ce0119e0a25c7b.html#devmenu9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https://blog.csdn.net/zhonglinzhang/article/details/110952171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https://blog.csdn.net/Lid_23/article/details/131883668</a:t>
            </a:r>
          </a:p>
          <a:p>
            <a:pPr algn="just">
              <a:lnSpc>
                <a:spcPct val="130000"/>
              </a:lnSpc>
              <a:buClr>
                <a:srgbClr val="3FA30C"/>
              </a:buClr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https://blog.csdn.net/u010178611/article/details/81512777</a:t>
            </a:r>
          </a:p>
        </p:txBody>
      </p:sp>
    </p:spTree>
    <p:extLst>
      <p:ext uri="{BB962C8B-B14F-4D97-AF65-F5344CB8AC3E}">
        <p14:creationId xmlns:p14="http://schemas.microsoft.com/office/powerpoint/2010/main" val="401379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_矩形 5"/>
          <p:cNvSpPr/>
          <p:nvPr>
            <p:custDataLst>
              <p:tags r:id="rId1"/>
            </p:custDataLst>
          </p:nvPr>
        </p:nvSpPr>
        <p:spPr>
          <a:xfrm>
            <a:off x="0" y="2915367"/>
            <a:ext cx="12192000" cy="1513758"/>
          </a:xfrm>
          <a:prstGeom prst="rect">
            <a:avLst/>
          </a:prstGeom>
          <a:solidFill>
            <a:schemeClr val="accent1">
              <a:alpha val="80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75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Theme">
  <a:themeElements>
    <a:clrScheme name="自定义 19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92D050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43727</TotalTime>
  <Words>2784</Words>
  <Application>Microsoft Office PowerPoint</Application>
  <PresentationFormat>宽屏</PresentationFormat>
  <Paragraphs>164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Wingdings</vt:lpstr>
      <vt:lpstr>Office Theme</vt:lpstr>
      <vt:lpstr>PowerPoint 演示文稿</vt:lpstr>
      <vt:lpstr>创新创业校企联合实践考核要求</vt:lpstr>
      <vt:lpstr>验收评分标准</vt:lpstr>
      <vt:lpstr>验收安排</vt:lpstr>
      <vt:lpstr>基础开源框架——Open5GS</vt:lpstr>
      <vt:lpstr>基础开源框架——Open5GS</vt:lpstr>
      <vt:lpstr>基础开源框架——Open5GS</vt:lpstr>
      <vt:lpstr>基础开源框架——Open5GS</vt:lpstr>
      <vt:lpstr>基础开源框架——Open5GS</vt:lpstr>
      <vt:lpstr>IMS，其核心是SIP</vt:lpstr>
      <vt:lpstr>基础开源框架——Kamailio</vt:lpstr>
      <vt:lpstr>基础开源框架——Kamailio的核心特性</vt:lpstr>
      <vt:lpstr>基础开源框架——Kamailio的核心特性</vt:lpstr>
      <vt:lpstr>基础开源框架——Kamailio的应用场景</vt:lpstr>
      <vt:lpstr>基础开源框架——Doubango</vt:lpstr>
      <vt:lpstr>基础开源框架——Doubango的核心技术</vt:lpstr>
      <vt:lpstr>基础开源框架——Doubango的应用场景</vt:lpstr>
      <vt:lpstr>实验</vt:lpstr>
      <vt:lpstr>实验</vt:lpstr>
      <vt:lpstr>实验</vt:lpstr>
      <vt:lpstr>实施步骤</vt:lpstr>
      <vt:lpstr>实施步骤</vt:lpstr>
      <vt:lpstr>相关资料</vt:lpstr>
      <vt:lpstr>相关资料</vt:lpstr>
      <vt:lpstr>相关资料</vt:lpstr>
      <vt:lpstr>相关资料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二月设计</dc:creator>
  <cp:lastModifiedBy>Windows 用户</cp:lastModifiedBy>
  <cp:revision>2469</cp:revision>
  <dcterms:created xsi:type="dcterms:W3CDTF">2014-11-26T08:06:19Z</dcterms:created>
  <dcterms:modified xsi:type="dcterms:W3CDTF">2026-03-17T08:11:39Z</dcterms:modified>
</cp:coreProperties>
</file>